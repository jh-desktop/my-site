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41C22">
              <a:alpha val="85000"/>
            </a:srgbClr>
          </a:solidFill>
          <a:ln w="12700">
            <a:solidFill>
              <a:srgbClr val="041C2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 ·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CLARK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당신이 모르고 있던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동남아 최고 가성비 휴양지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640080" cy="36576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5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인천 → 클락 직항 4시간 · 무비자 30일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지인용 여행 추천 자료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클락인가?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41732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500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직항 4시간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79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인천에서 가깝고 시차 1시간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691640"/>
            <a:ext cx="73152" cy="141732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920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3500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 잭팟 카지노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2679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 Casino 통합 리조트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35040" y="1691640"/>
            <a:ext cx="73152" cy="141732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3500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한식 천국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09360" y="2679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한국인 운영 식당 다수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2461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3246120"/>
            <a:ext cx="73152" cy="141732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747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39044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압도적 가성비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2960" y="4233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마닐라보다 저렴, 더 깨끗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32461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91840" y="3246120"/>
            <a:ext cx="73152" cy="141732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4747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66160" y="39044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골프 천국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3566160" y="4233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그린피 5만원~ 라운딩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35040" y="324612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035040" y="3246120"/>
            <a:ext cx="73152" cy="141732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47472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09360" y="39044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다양한 액티비티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6309360" y="423367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화산·해변·쇼핑 1시간 내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위치 &amp; 접근성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ACCESS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6B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시간 비행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인천 ↔ 클락 직항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737360"/>
            <a:ext cx="0" cy="2926080"/>
          </a:xfrm>
          <a:prstGeom prst="line">
            <a:avLst/>
          </a:prstGeom>
          <a:noFill/>
          <a:ln w="12700">
            <a:solidFill>
              <a:srgbClr val="C8B8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팜팡가 클락 자유무역지대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도시 구분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Freeport Zone (구 미군 기지)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743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마닐라까지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차로 약 1시간 30분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한국보다 1시간 느림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3657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3657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30일 무비자 (왕복항공권 필요)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International Airport (CRK)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5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 CASINO RESORT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잭팟이 진짜 터집니다</a:t>
            </a:r>
            <a:endParaRPr lang="en-US" sz="3200" dirty="0"/>
          </a:p>
        </p:txBody>
      </p:sp>
      <p:pic>
        <p:nvPicPr>
          <p:cNvPr id="4" name="Image 0" descr="/home/claude/clark-deck/photos/jackpotA_pa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219456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17320"/>
            <a:ext cx="21945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574"/>
            </a:solidFill>
            <a:prstDash val="solid"/>
          </a:ln>
        </p:spPr>
      </p:sp>
      <p:pic>
        <p:nvPicPr>
          <p:cNvPr id="6" name="Image 1" descr="/home/claude/clark-deck/photos/jackpotB_pane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26080" y="1417320"/>
            <a:ext cx="219456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926080" y="1417320"/>
            <a:ext cx="219456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57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4206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잭팟 ₱102,513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250만원 당첨 현장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926080" y="4206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WIN ×430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926080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당첨 빅 윈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486400" y="1417320"/>
            <a:ext cx="3291840" cy="1280160"/>
          </a:xfrm>
          <a:prstGeom prst="rect">
            <a:avLst/>
          </a:prstGeom>
          <a:solidFill>
            <a:srgbClr val="07313B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77840" y="1508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5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진행 중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577840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₱10,588,811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557784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2억 6천만원 누적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0" y="28803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슬롯 1,000+ · 테이블 200+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Clark Marriott / Swissôtel / Widus 호텔 입점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한국계 운영 (한대식 회장)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24시간 무휴 · 한국어 직원 상주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8640" y="4736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다녀온 현장 사진 — 운만 따라준다면, 누구나 한 방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412480" y="47365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워킹스트리트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STREET · 엔젤레스 시티 나이트라이프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클락 자유무역지대에서 차로 약 10분 거리, 엔젤레스 시티 한복판에 위치한 아시아권에서 가장 유명한 나이트라이프 거리. 약 500m 보행자 전용 구간을 따라 바·클럽·라이브 음악 업소·레스토랑이 빼곡히 들어서 있어 밤이 되면 화려한 네온사인으로 가득 찬다.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3931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971800"/>
            <a:ext cx="73152" cy="173736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1546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즐길 거리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 밴드 펍과 스포츠 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현지·국제 요리 노천 레스토랑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공연과 활기찬 분위기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맥주 1잔 약 ₱100 (~2,500원)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2971800"/>
            <a:ext cx="39319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971800"/>
            <a:ext cx="73152" cy="173736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154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3127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알아둘 점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92040" y="352044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성인 유흥업소가 다수 혼재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야간 단독 외출보다 일행 동반 권장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현금·귀중품은 호텔 금고 보관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앱으로 안전한 귀가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 외 즐길거리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TO DO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86200" cy="1508760"/>
          </a:xfrm>
          <a:prstGeom prst="rect">
            <a:avLst/>
          </a:prstGeom>
          <a:solidFill>
            <a:srgbClr val="FCF7ED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Mt. Pinatubo 화산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3500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1991년 분화한 활화산. 4WD + 트레킹으로 분화구 호수 방문. 풍경이 압도적.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691640"/>
            <a:ext cx="3886200" cy="1508760"/>
          </a:xfrm>
          <a:prstGeom prst="rect">
            <a:avLst/>
          </a:prstGeom>
          <a:solidFill>
            <a:srgbClr val="FCF7ED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96596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965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골프 라운딩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69280" y="235000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Mimosa, Sherwood Hills 등 7개 코스. 그린피 5~10만원대로 캐디 포함.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3886200" cy="1508760"/>
          </a:xfrm>
          <a:prstGeom prst="rect">
            <a:avLst/>
          </a:prstGeom>
          <a:solidFill>
            <a:srgbClr val="FCF7ED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94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657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 Clark 쇼핑몰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404164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필리핀 최대 쇼핑몰 체인. 한식·아울렛·시네마까지. 시원한 휴식 공간.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17720" y="3383280"/>
            <a:ext cx="3886200" cy="1508760"/>
          </a:xfrm>
          <a:prstGeom prst="rect">
            <a:avLst/>
          </a:prstGeom>
          <a:solidFill>
            <a:srgbClr val="FCF7ED"/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365760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947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657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Subic Bay 당일치기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669280" y="404164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차로 1시간. 해변·수상레저·요트 가능. 한적한 휴양 분위기.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미식의 도시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FOOD — 한식부터 해산물까지</a:t>
            </a:r>
            <a:endParaRPr lang="en-US" sz="1100" dirty="0"/>
          </a:p>
        </p:txBody>
      </p:sp>
      <p:pic>
        <p:nvPicPr>
          <p:cNvPr id="4" name="Image 0" descr="/home/claude/clark-deck/photos/restaurant1_pa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187452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1874520" cy="24688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233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유럽풍 레스토랑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4489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분위기 좋은 와인 다이닝</a:t>
            </a:r>
            <a:endParaRPr lang="en-US" sz="900" dirty="0"/>
          </a:p>
        </p:txBody>
      </p:sp>
      <p:pic>
        <p:nvPicPr>
          <p:cNvPr id="8" name="Image 1" descr="/home/claude/clark-deck/photos/crabPepper_pane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69464" y="1691640"/>
            <a:ext cx="1874520" cy="2468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69464" y="1691640"/>
            <a:ext cx="1874520" cy="24688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69464" y="4233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흑후추 크랩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569464" y="4489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필리핀 시그니처 시푸드</a:t>
            </a:r>
            <a:endParaRPr lang="en-US" sz="900" dirty="0"/>
          </a:p>
        </p:txBody>
      </p:sp>
      <p:pic>
        <p:nvPicPr>
          <p:cNvPr id="12" name="Image 2" descr="/home/claude/clark-deck/photos/crabsKorean_pane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90288" y="1691640"/>
            <a:ext cx="1874520" cy="24688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90288" y="1691640"/>
            <a:ext cx="1874520" cy="24688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90288" y="4233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통게 + 김치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90288" y="4489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한국인 입맛에 딱</a:t>
            </a:r>
            <a:endParaRPr lang="en-US" sz="900" dirty="0"/>
          </a:p>
        </p:txBody>
      </p:sp>
      <p:pic>
        <p:nvPicPr>
          <p:cNvPr id="16" name="Image 3" descr="/home/claude/clark-deck/photos/restaurant2_pane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611112" y="1691640"/>
            <a:ext cx="1874520" cy="24688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611112" y="1691640"/>
            <a:ext cx="1874520" cy="24688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C8B89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611112" y="4233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이색 테마 식당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611112" y="4489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 안내까지 친절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여행 팁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417320"/>
          </a:xfrm>
          <a:prstGeom prst="rect">
            <a:avLst/>
          </a:prstGeom>
          <a:solidFill>
            <a:srgbClr val="FCF7ED"/>
          </a:solidFill>
          <a:ln w="6350">
            <a:solidFill>
              <a:srgbClr val="C8B89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통화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23500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필리핀 페소(PHP)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1페소 ≈ 25원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1691640"/>
            <a:ext cx="2606040" cy="1417320"/>
          </a:xfrm>
          <a:prstGeom prst="rect">
            <a:avLst/>
          </a:prstGeom>
          <a:solidFill>
            <a:srgbClr val="FCF7ED"/>
          </a:solidFill>
          <a:ln w="6350">
            <a:solidFill>
              <a:srgbClr val="C8B8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9659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6052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최적 시즌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160520" y="23500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12월~5월 건기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6~11월 우기/태풍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35040" y="1691640"/>
            <a:ext cx="2606040" cy="1417320"/>
          </a:xfrm>
          <a:prstGeom prst="rect">
            <a:avLst/>
          </a:prstGeom>
          <a:solidFill>
            <a:srgbClr val="FCF7ED"/>
          </a:solidFill>
          <a:ln w="6350">
            <a:solidFill>
              <a:srgbClr val="C8B89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65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이동 수단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903720" y="235000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앱 필수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트라이시클은 흥정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3246120"/>
            <a:ext cx="2606040" cy="1417320"/>
          </a:xfrm>
          <a:prstGeom prst="rect">
            <a:avLst/>
          </a:prstGeom>
          <a:solidFill>
            <a:srgbClr val="FCF7ED"/>
          </a:solidFill>
          <a:ln w="6350">
            <a:solidFill>
              <a:srgbClr val="C8B89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204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474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비자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417320" y="390448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30일 무비자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왕복항공권 필수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91840" y="3246120"/>
            <a:ext cx="2606040" cy="1417320"/>
          </a:xfrm>
          <a:prstGeom prst="rect">
            <a:avLst/>
          </a:prstGeom>
          <a:solidFill>
            <a:srgbClr val="FCF7ED"/>
          </a:solidFill>
          <a:ln w="6350">
            <a:solidFill>
              <a:srgbClr val="C8B89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5204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60520" y="3474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환전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160520" y="390448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달러 환전이 유리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공항·호텔 가능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35040" y="3246120"/>
            <a:ext cx="2606040" cy="1417320"/>
          </a:xfrm>
          <a:prstGeom prst="rect">
            <a:avLst/>
          </a:prstGeom>
          <a:solidFill>
            <a:srgbClr val="FCF7ED"/>
          </a:solidFill>
          <a:ln w="6350">
            <a:solidFill>
              <a:srgbClr val="C8B89A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5204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3474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1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주의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903720" y="390448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수돗물 음용 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저녁 식사는 안전 식당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C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3716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3박 4일 추천 일정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5B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ITINERARY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914400" cy="54864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5270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도착 &amp; 카지노 데뷔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18013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인천 출발 → 클락 도착 → Hann 체크인 → 한식 저녁 → 카지노 슬롯·바카라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914400" cy="54864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219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2402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골프 또는 화산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45920" y="2514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오전 골프 라운딩 (또는 핀투보 화산 투어) → 점심 → 호텔 풀 휴식 → 워킹스트리트 저녁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35224"/>
            <a:ext cx="914400" cy="54864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3522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29535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쇼핑 &amp; 즐기기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322783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Clark 쇼핑 → 마사지 → 한식 저녁 → Hann 카지노 마지막 베팅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48456"/>
            <a:ext cx="914400" cy="54864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484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66674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여유로운 귀국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394106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호텔 조식 → 체크아웃 → 면세점 쇼핑 → 클락 공항 → 인천 도착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8046720" cy="0"/>
          </a:xfrm>
          <a:prstGeom prst="line">
            <a:avLst/>
          </a:prstGeom>
          <a:noFill/>
          <a:ln w="6350">
            <a:solidFill>
              <a:srgbClr val="D4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6B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이번 휴가, 클락 어때?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0" y="48006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Clark, Philippines</dc:title>
  <dc:subject>PptxGenJS Presentation</dc:subject>
  <dc:creator>Clark Travel Guide</dc:creator>
  <cp:lastModifiedBy>Clark Travel Guide</cp:lastModifiedBy>
  <cp:revision>1</cp:revision>
  <dcterms:created xsi:type="dcterms:W3CDTF">2026-05-14T06:33:06Z</dcterms:created>
  <dcterms:modified xsi:type="dcterms:W3CDTF">2026-05-14T06:33:06Z</dcterms:modified>
</cp:coreProperties>
</file>